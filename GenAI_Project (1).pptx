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7"/>
  </p:notesMasterIdLst>
  <p:sldIdLst>
    <p:sldId id="257" r:id="rId2"/>
    <p:sldId id="258" r:id="rId3"/>
    <p:sldId id="270" r:id="rId4"/>
    <p:sldId id="271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8" r:id="rId13"/>
    <p:sldId id="269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F4770-3E5C-23E0-8B90-715068818EC2}" v="338" dt="2025-12-03T19:49:22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F7C93-EDAF-45BA-90A9-1ADDE99C2A3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7AFA1-011B-460B-A025-CB14DBAB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0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44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D79D-3504-5435-9C42-285FB6905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2C04-9DA9-72D2-D00D-49C5E6DC6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0D0FF-CAA7-C811-3F9B-BB5F94C14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C3501-451D-6469-FDA0-4D0090C6A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4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FBAA-9F61-9075-98BE-0B08967A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FA3AA-AA0E-5BB7-7943-BB4CFFBA7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8B4AA-A6ED-0201-8BD2-3E016E655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8496-CF88-5F43-F5A1-A3FF05DCC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FBB0-F765-7A93-6805-53AFF3A3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66154-2E10-564B-6220-6DE8934D7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0C2C1-6DC0-E0AB-3B94-B52CBCDF2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713A3-1F63-9B20-45FB-D85810021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64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E21E-D7D6-8E1E-0E20-33B66DEF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688AD-4C31-2F45-117B-7CE5C0267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3EBCC-C835-49A1-4289-30F3DDD5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C1EE6-13BD-1C2F-3396-6F3832382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2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2A9E-A949-C9C5-67FA-050AA16E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7E57E-AF01-AA2C-B6B6-A4B9F24A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8C9C4-8F3C-7F16-B364-872D2F5BA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C227-F67D-2968-AA1D-FF9509DD5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35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74D7-ADF4-6626-7CDE-7F14C590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7F30-A9C5-C381-2AA1-EA551DAB6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9332B-F507-D23E-F5D3-02082AFD5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A4AC4-448A-7F91-51DE-3AA800115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67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1B3F-D8FC-DF31-68DA-0890F809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02758-40F4-2A4B-F5AE-50A32F4E0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4FD4A-E22A-F7EF-20A2-3A9CFBCDA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7547C-8EB7-2DC2-7AAC-52AE24D36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34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9DB9-21E6-3120-3FC2-7330EA8D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BE19D-F2EF-6DB5-11C1-5E703CA9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0562B-DC27-EC23-70F4-9C3DE34B0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17E13-AE75-8260-7FEC-FD5F13D88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78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AC63-B24E-3376-BCD4-CE121426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48DAC-02DC-F502-471C-5701DCE6E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62CCA-ADB1-EE1D-A970-C86AFAC81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6BD5B-4204-C2B1-710C-625CF7BFA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1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96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6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9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035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50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78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08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6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5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52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89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7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77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74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3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27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03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03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21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38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8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62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468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356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24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33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124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382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774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709673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2037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13618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8659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6794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302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605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594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2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4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279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188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98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21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30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598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4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1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8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7AA5-DBF9-873C-32CA-DCAFFB65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E8F3-604E-6B7A-A41A-19FDFC0F1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 fontScale="90000"/>
          </a:bodyPr>
          <a:lstStyle/>
          <a:p>
            <a:r>
              <a:rPr lang="en-US"/>
              <a:t>Simple Open-Vocabulary Object Detection with Vision 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0D598-6A81-86B3-EC02-A693D13B9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/>
              <a:t>Ashna Ranganathan || Guia Mae Bongulto</a:t>
            </a:r>
          </a:p>
        </p:txBody>
      </p:sp>
      <p:pic>
        <p:nvPicPr>
          <p:cNvPr id="5" name="Picture Placeholder 4" descr="A black and white image of a person's head and graph&#10;&#10;AI-generated content may be incorrect.">
            <a:extLst>
              <a:ext uri="{FF2B5EF4-FFF2-40B4-BE49-F238E27FC236}">
                <a16:creationId xmlns:a16="http://schemas.microsoft.com/office/drawing/2014/main" id="{45A17FF6-E28E-E97B-CFD2-0DBA9B91D8E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68" b="20768"/>
          <a:stretch>
            <a:fillRect/>
          </a:stretch>
        </p:blipFill>
        <p:spPr>
          <a:xfrm>
            <a:off x="342900" y="342900"/>
            <a:ext cx="11506200" cy="4484688"/>
          </a:xfrm>
        </p:spPr>
      </p:pic>
    </p:spTree>
    <p:extLst>
      <p:ext uri="{BB962C8B-B14F-4D97-AF65-F5344CB8AC3E}">
        <p14:creationId xmlns:p14="http://schemas.microsoft.com/office/powerpoint/2010/main" val="290794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C959-B588-1624-AAE5-B8C1828A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21BD-BDA5-4C2F-78DA-933533D7F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Project Overview: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827D1-7416-30AF-108C-AD893B24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Goal:</a:t>
            </a:r>
            <a:r>
              <a:rPr lang="en-US" sz="2800">
                <a:latin typeface="Agency FB"/>
                <a:cs typeface="Aharoni"/>
              </a:rPr>
              <a:t> Understand how the modern vision language model responds to custom object request.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Model Used:</a:t>
            </a:r>
            <a:r>
              <a:rPr lang="en-US" sz="2800">
                <a:latin typeface="Agency FB"/>
                <a:cs typeface="Aharoni"/>
              </a:rPr>
              <a:t> </a:t>
            </a:r>
            <a:r>
              <a:rPr lang="en-US" sz="2800" err="1">
                <a:latin typeface="Agency FB"/>
                <a:cs typeface="Aharoni"/>
              </a:rPr>
              <a:t>OWL_ViT</a:t>
            </a:r>
            <a:r>
              <a:rPr lang="en-US" sz="2800">
                <a:latin typeface="Agency FB"/>
                <a:cs typeface="Aharoni"/>
              </a:rPr>
              <a:t> (zero-shot object detector)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Task:</a:t>
            </a:r>
            <a:r>
              <a:rPr lang="en-US" sz="2800">
                <a:latin typeface="Agency FB"/>
                <a:cs typeface="Aharoni"/>
              </a:rPr>
              <a:t> To detect the tree in the outdoor image.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Output:</a:t>
            </a:r>
            <a:r>
              <a:rPr lang="en-US" sz="2800">
                <a:latin typeface="Agency FB"/>
                <a:cs typeface="Aharoni"/>
              </a:rPr>
              <a:t> Boxes were put but they covered the entire image instead of just boxing in the tree.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Purpose:</a:t>
            </a:r>
            <a:r>
              <a:rPr lang="en-US" sz="2800">
                <a:latin typeface="Agency FB"/>
                <a:cs typeface="Aharoni"/>
              </a:rPr>
              <a:t> To evaluate the performance, identify the problems, improve the object detector.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1426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CC36-06E5-EB21-3F28-93CFE147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3CB5-7C50-9A60-A760-AAC6F5114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8" y="310990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is  Open-vocabulary 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65F64-451F-365D-9C3D-D6F8BA3F5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86" y="1255356"/>
            <a:ext cx="11347704" cy="45754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Open-vocabulary object detection is an approach where a model can detect </a:t>
            </a:r>
            <a:r>
              <a:rPr lang="en-US" sz="210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any object described in natural language</a:t>
            </a:r>
            <a:r>
              <a:rPr lang="en-US" sz="2100">
                <a:latin typeface="Agency FB"/>
                <a:ea typeface="+mn-lt"/>
                <a:cs typeface="+mn-lt"/>
              </a:rPr>
              <a:t>, even if that object </a:t>
            </a:r>
            <a:r>
              <a:rPr lang="en-US" sz="210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never appeared in the training set</a:t>
            </a:r>
            <a:r>
              <a:rPr lang="en-US" sz="2100">
                <a:latin typeface="Agency FB"/>
                <a:ea typeface="+mn-lt"/>
                <a:cs typeface="+mn-lt"/>
              </a:rPr>
              <a:t>.</a:t>
            </a:r>
            <a:endParaRPr lang="en-US" sz="2100">
              <a:latin typeface="Agency FB"/>
              <a:cs typeface="Aharoni" panose="020F0502020204030204" pitchFamily="2" charset="-79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Traditional object detectors (like YOLO or Faster R-CNN) require:</a:t>
            </a:r>
            <a:endParaRPr lang="en-US" sz="21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A fixed list of class labels (e.g., “dog, person, car”)</a:t>
            </a:r>
            <a:endParaRPr lang="en-US" sz="21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Large annotated datasets for each class</a:t>
            </a:r>
            <a:endParaRPr lang="en-US" sz="21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Open-vocabulary detection removes this limitation.</a:t>
            </a:r>
            <a:br>
              <a:rPr lang="en-US" sz="2100">
                <a:latin typeface="Agency FB"/>
                <a:ea typeface="+mn-lt"/>
                <a:cs typeface="+mn-lt"/>
              </a:rPr>
            </a:br>
            <a:r>
              <a:rPr lang="en-US" sz="2100">
                <a:latin typeface="Agency FB"/>
                <a:ea typeface="+mn-lt"/>
                <a:cs typeface="+mn-lt"/>
              </a:rPr>
              <a:t> Instead of predicting from a fixed list, the model takes </a:t>
            </a:r>
            <a:r>
              <a:rPr lang="en-US" sz="210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text prompts</a:t>
            </a:r>
            <a:r>
              <a:rPr lang="en-US" sz="2100">
                <a:latin typeface="Agency FB"/>
                <a:ea typeface="+mn-lt"/>
                <a:cs typeface="+mn-lt"/>
              </a:rPr>
              <a:t> such as:</a:t>
            </a:r>
            <a:endParaRPr lang="en-US" sz="2100"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large green tree”</a:t>
            </a:r>
            <a:endParaRPr lang="en-US" sz="1900">
              <a:solidFill>
                <a:srgbClr val="F0EDE6"/>
              </a:solidFill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person holding a red umbrella”</a:t>
            </a:r>
            <a:endParaRPr lang="en-US" sz="1900">
              <a:solidFill>
                <a:srgbClr val="F0EDE6"/>
              </a:solidFill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gothic-style building”</a:t>
            </a:r>
            <a:endParaRPr lang="en-US" sz="1900">
              <a:solidFill>
                <a:srgbClr val="F0EDE6"/>
              </a:solidFill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>
                <a:latin typeface="Agency FB"/>
                <a:ea typeface="+mn-lt"/>
                <a:cs typeface="+mn-lt"/>
              </a:rPr>
              <a:t>The model then searches the image for regions that match the </a:t>
            </a:r>
            <a:r>
              <a:rPr lang="en-US" sz="2100" i="1">
                <a:latin typeface="Agency FB"/>
                <a:ea typeface="+mn-lt"/>
                <a:cs typeface="+mn-lt"/>
              </a:rPr>
              <a:t>description</a:t>
            </a:r>
            <a:r>
              <a:rPr lang="en-US" sz="2100">
                <a:latin typeface="Agency FB"/>
                <a:ea typeface="+mn-lt"/>
                <a:cs typeface="+mn-lt"/>
              </a:rPr>
              <a:t> rather than a preset category list.</a:t>
            </a:r>
            <a:endParaRPr lang="en-US" sz="210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endParaRPr lang="en-US" sz="21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3718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9D6A-9B54-A86D-D787-9B31844F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3AB5-5AB9-FB91-D7B2-BBFE80424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Architecture Overview (Vision Transformer + Text Encoder)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2430B-0415-6E93-CDDE-5455D000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ea typeface="+mn-lt"/>
                <a:cs typeface="+mn-lt"/>
              </a:rPr>
              <a:t>OWL-</a:t>
            </a:r>
            <a:r>
              <a:rPr lang="en-US" sz="2800" err="1">
                <a:solidFill>
                  <a:srgbClr val="FFFF00"/>
                </a:solidFill>
                <a:ea typeface="+mn-lt"/>
                <a:cs typeface="+mn-lt"/>
              </a:rPr>
              <a:t>ViT</a:t>
            </a:r>
            <a:r>
              <a:rPr lang="en-US" sz="2800">
                <a:solidFill>
                  <a:srgbClr val="FFFF00"/>
                </a:solidFill>
                <a:ea typeface="+mn-lt"/>
                <a:cs typeface="+mn-lt"/>
              </a:rPr>
              <a:t> uses two major components:</a:t>
            </a:r>
            <a:endParaRPr lang="en-US"/>
          </a:p>
          <a:p>
            <a:pPr marL="342900" indent="-342900">
              <a:buFont typeface="Courier New"/>
              <a:buChar char="o"/>
            </a:pPr>
            <a:r>
              <a:rPr lang="en-US" sz="2200" b="1">
                <a:solidFill>
                  <a:srgbClr val="FF0000"/>
                </a:solidFill>
                <a:latin typeface="Agency FB"/>
              </a:rPr>
              <a:t>1. Vision Transformer (</a:t>
            </a:r>
            <a:r>
              <a:rPr lang="en-US" sz="2200" b="1" err="1">
                <a:solidFill>
                  <a:srgbClr val="FF0000"/>
                </a:solidFill>
                <a:latin typeface="Agency FB"/>
              </a:rPr>
              <a:t>ViT</a:t>
            </a:r>
            <a:r>
              <a:rPr lang="en-US" sz="2200" b="1">
                <a:solidFill>
                  <a:srgbClr val="FF0000"/>
                </a:solidFill>
                <a:latin typeface="Agency FB"/>
              </a:rPr>
              <a:t>)</a:t>
            </a:r>
            <a:endParaRPr lang="en-US" sz="2200" b="1">
              <a:solidFill>
                <a:srgbClr val="FF0000"/>
              </a:solidFill>
              <a:latin typeface="Agency FB"/>
              <a:cs typeface="Aharoni" panose="020F0502020204030204" pitchFamily="2" charset="-79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Takes the </a:t>
            </a:r>
            <a:r>
              <a:rPr lang="en-US" sz="2200" b="1">
                <a:latin typeface="Agency FB"/>
                <a:ea typeface="+mn-lt"/>
                <a:cs typeface="+mn-lt"/>
              </a:rPr>
              <a:t>image</a:t>
            </a:r>
            <a:r>
              <a:rPr lang="en-US" sz="2200">
                <a:latin typeface="Agency FB"/>
                <a:ea typeface="+mn-lt"/>
                <a:cs typeface="+mn-lt"/>
              </a:rPr>
              <a:t> as input.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Breaks it into patches (like tokens in a sentence).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Uses self-attention to understand relationships between image regions.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Outputs a high-dimensional </a:t>
            </a:r>
            <a:r>
              <a:rPr lang="en-US" sz="2200" b="1">
                <a:latin typeface="Agency FB"/>
                <a:ea typeface="+mn-lt"/>
                <a:cs typeface="+mn-lt"/>
              </a:rPr>
              <a:t>image embedding</a:t>
            </a:r>
            <a:r>
              <a:rPr lang="en-US" sz="2200">
                <a:latin typeface="Agency FB"/>
                <a:ea typeface="+mn-lt"/>
                <a:cs typeface="+mn-lt"/>
              </a:rPr>
              <a:t> that captures semantic meaning.</a:t>
            </a:r>
            <a:endParaRPr lang="en-US" sz="220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br>
              <a:rPr lang="en-US"/>
            </a:b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b="1">
                <a:solidFill>
                  <a:srgbClr val="FF0000"/>
                </a:solidFill>
                <a:latin typeface="Agency FB"/>
              </a:rPr>
              <a:t>2. Text Encoder</a:t>
            </a: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Converts the </a:t>
            </a:r>
            <a:r>
              <a:rPr lang="en-US" sz="2200" b="1">
                <a:latin typeface="Agency FB"/>
                <a:ea typeface="+mn-lt"/>
                <a:cs typeface="+mn-lt"/>
              </a:rPr>
              <a:t>text prompt</a:t>
            </a:r>
            <a:r>
              <a:rPr lang="en-US" sz="2200">
                <a:latin typeface="Agency FB"/>
                <a:ea typeface="+mn-lt"/>
                <a:cs typeface="+mn-lt"/>
              </a:rPr>
              <a:t> (“tree,” “tall green tree,” etc.) into a </a:t>
            </a:r>
            <a:r>
              <a:rPr lang="en-US" sz="2200" b="1">
                <a:latin typeface="Agency FB"/>
                <a:ea typeface="+mn-lt"/>
                <a:cs typeface="+mn-lt"/>
              </a:rPr>
              <a:t>text embedding</a:t>
            </a:r>
            <a:r>
              <a:rPr lang="en-US" sz="2200">
                <a:latin typeface="Agency FB"/>
                <a:ea typeface="+mn-lt"/>
                <a:cs typeface="+mn-lt"/>
              </a:rPr>
              <a:t>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Uses a transformer similar to BERT/T5 to encode language meaning.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>
                <a:latin typeface="Agency FB"/>
                <a:ea typeface="+mn-lt"/>
                <a:cs typeface="+mn-lt"/>
              </a:rPr>
              <a:t>Outputs a vector in the same embedding space as the images.</a:t>
            </a:r>
            <a:endParaRPr lang="en-US" sz="220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endParaRPr lang="en-US" sz="2800">
              <a:latin typeface="Neue Haas Grotesk Text Pro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071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A563-8A3F-62B8-0B3D-C191B9A2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B586-558F-E384-D121-BC395AC4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is OWL_ViT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C5E63-90BF-3262-A027-839DBED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err="1">
                <a:latin typeface="Agency FB"/>
                <a:cs typeface="Aharoni"/>
              </a:rPr>
              <a:t>OWL_ViT</a:t>
            </a:r>
            <a:r>
              <a:rPr lang="en-US" sz="2800">
                <a:latin typeface="Agency FB"/>
                <a:cs typeface="Aharoni"/>
              </a:rPr>
              <a:t> is a vision language transformer that is trained for natural language object detection.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It takes an image and the text prompt and returns predicted boxes and similarity scores.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Strengths: </a:t>
            </a:r>
            <a:r>
              <a:rPr lang="en-US" sz="2800">
                <a:latin typeface="Agency FB"/>
                <a:cs typeface="Aharoni"/>
              </a:rPr>
              <a:t>zero-shot, text queries are flexible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Weaknesses:</a:t>
            </a:r>
            <a:r>
              <a:rPr lang="en-US" sz="2800">
                <a:latin typeface="Agency FB"/>
                <a:cs typeface="Aharoni"/>
              </a:rPr>
              <a:t> limited training categories, which means it struggles with unseen or unusual objects.</a:t>
            </a:r>
          </a:p>
          <a:p>
            <a:pPr marL="457200" indent="-457200">
              <a:buFont typeface="Courier New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1996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02B0-625E-9AC0-EBEF-67B60AF1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0917-CBEC-56C1-3DFA-CE2BC86AF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Implementation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80F70-F445-205D-F07E-F17C70FED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Use of </a:t>
            </a:r>
            <a:r>
              <a:rPr lang="en-US" sz="2800" err="1">
                <a:latin typeface="Agency FB"/>
                <a:cs typeface="Aharoni"/>
              </a:rPr>
              <a:t>HuggingFace</a:t>
            </a:r>
            <a:r>
              <a:rPr lang="en-US" sz="2800">
                <a:latin typeface="Agency FB"/>
                <a:cs typeface="Aharoni"/>
              </a:rPr>
              <a:t> </a:t>
            </a:r>
            <a:r>
              <a:rPr lang="en-US" sz="2800" err="1">
                <a:latin typeface="Agency FB"/>
                <a:cs typeface="Aharoni"/>
              </a:rPr>
              <a:t>OWL_ViT</a:t>
            </a:r>
            <a:endParaRPr lang="en-US" err="1"/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Loaded model and processor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Used tree and bush as the prompt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Flooded the output boxes with PIL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We run the code in </a:t>
            </a:r>
            <a:r>
              <a:rPr lang="en-US" sz="2800" err="1">
                <a:latin typeface="Agency FB"/>
                <a:cs typeface="Aharoni"/>
              </a:rPr>
              <a:t>Jupyter</a:t>
            </a:r>
            <a:r>
              <a:rPr lang="en-US" sz="2800">
                <a:latin typeface="Agency FB"/>
                <a:cs typeface="Aharoni"/>
              </a:rPr>
              <a:t> Notebook/Google Colab</a:t>
            </a:r>
          </a:p>
        </p:txBody>
      </p:sp>
    </p:spTree>
    <p:extLst>
      <p:ext uri="{BB962C8B-B14F-4D97-AF65-F5344CB8AC3E}">
        <p14:creationId xmlns:p14="http://schemas.microsoft.com/office/powerpoint/2010/main" val="267045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D1F1-1D51-84FA-67EB-388FD6D7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37FC-55CC-8C42-98D1-1A6E95FFE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				Input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99A36-C80C-9735-1219-EF29585B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9202" y="3374454"/>
            <a:ext cx="9354379" cy="3150926"/>
          </a:xfrm>
        </p:spPr>
        <p:txBody>
          <a:bodyPr>
            <a:normAutofit/>
          </a:bodyPr>
          <a:lstStyle/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F90567-D2FB-65FB-C311-341DBE22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890" y="1497561"/>
            <a:ext cx="9422219" cy="494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5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B589-3B72-25B7-54B2-3FCB7CFE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29A9-47CB-DEAF-BC9B-A65A68DE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				Output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C0768-89ED-927F-AD87-EBFBD5D8C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9888" y="3664898"/>
            <a:ext cx="8497583" cy="2845629"/>
          </a:xfrm>
        </p:spPr>
        <p:txBody>
          <a:bodyPr>
            <a:normAutofit/>
          </a:bodyPr>
          <a:lstStyle/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12A48A-4A89-4F47-D0DB-8217ED636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088" y="1497561"/>
            <a:ext cx="9129823" cy="477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9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C3C5-4D56-6089-B1EC-7F1F5BC9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F31B-0E2A-F9A4-3B36-F324A7AD9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Observed Errors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54F46-7139-EDB0-7502-66DBF2289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The boxes did not box the tree and were scattered everywhere</a:t>
            </a:r>
            <a:endParaRPr lang="en-US">
              <a:latin typeface="Agency FB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majority of the boxes are irrelevant. (</a:t>
            </a:r>
            <a:r>
              <a:rPr lang="en-US" sz="2600">
                <a:latin typeface="Agency FB"/>
                <a:cs typeface="Aharoni"/>
              </a:rPr>
              <a:t>Boxes placed on vertical lines that resemble tree trunks)</a:t>
            </a:r>
            <a:endParaRPr lang="en-US" sz="2600">
              <a:solidFill>
                <a:srgbClr val="FFFFFF"/>
              </a:solidFill>
              <a:latin typeface="Agency FB"/>
              <a:cs typeface="Aharoni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The model predicted objects that do not even exist, which is a normal issue with zero-shot models.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Model confused by background objects</a:t>
            </a:r>
            <a:endParaRPr lang="en-US" sz="2800">
              <a:solidFill>
                <a:srgbClr val="FFFFFF"/>
              </a:solidFill>
              <a:latin typeface="Agency FB"/>
              <a:cs typeface="Aharoni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The similarity scores were too low to confidently classify anything as a tree.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ea typeface="+mn-lt"/>
                <a:cs typeface="+mn-lt"/>
              </a:rPr>
              <a:t>Strong tendency for oversensitive detection</a:t>
            </a:r>
            <a:endParaRPr lang="en-US">
              <a:latin typeface="Agency FB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ea typeface="+mn-lt"/>
                <a:cs typeface="+mn-lt"/>
              </a:rPr>
              <a:t>Example failure patterns:</a:t>
            </a:r>
            <a:endParaRPr lang="en-US">
              <a:solidFill>
                <a:srgbClr val="FFFF00"/>
              </a:solidFill>
              <a:latin typeface="Agency FB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600">
                <a:latin typeface="Agency FB"/>
                <a:ea typeface="+mn-lt"/>
                <a:cs typeface="+mn-lt"/>
              </a:rPr>
              <a:t>Lines mistaken for “tree trunks”</a:t>
            </a:r>
            <a:endParaRPr lang="en-US">
              <a:latin typeface="Agency FB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600">
                <a:latin typeface="Agency FB"/>
                <a:ea typeface="+mn-lt"/>
                <a:cs typeface="+mn-lt"/>
              </a:rPr>
              <a:t>Patches of green mistaken for leaves</a:t>
            </a:r>
            <a:endParaRPr lang="en-US">
              <a:latin typeface="Agency FB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n-US" sz="2600">
              <a:solidFill>
                <a:srgbClr val="F0EDE6"/>
              </a:solidFill>
              <a:latin typeface="Agency FB"/>
              <a:cs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261734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83D9-B6E4-3A8E-B16C-34BB65AB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E2C2-2207-0D76-F1ED-DFE1AA6A1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Why it failed?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D5F67-5C4A-D621-35BF-F24D283A2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Zero-shot limitation:</a:t>
            </a:r>
            <a:r>
              <a:rPr lang="en-US" sz="2800">
                <a:latin typeface="Agency FB"/>
                <a:cs typeface="Aharoni"/>
              </a:rPr>
              <a:t> </a:t>
            </a:r>
            <a:r>
              <a:rPr lang="en-US" sz="2800" err="1">
                <a:latin typeface="Agency FB"/>
                <a:cs typeface="Aharoni"/>
              </a:rPr>
              <a:t>OWL_ViT</a:t>
            </a:r>
            <a:r>
              <a:rPr lang="en-US" sz="2800">
                <a:latin typeface="Agency FB"/>
                <a:cs typeface="Aharoni"/>
              </a:rPr>
              <a:t> was not specifically trained to label </a:t>
            </a:r>
            <a:r>
              <a:rPr lang="en-US" sz="2800">
                <a:solidFill>
                  <a:srgbClr val="92D050"/>
                </a:solidFill>
                <a:latin typeface="Agency FB"/>
                <a:cs typeface="Aharoni"/>
              </a:rPr>
              <a:t>“trees”</a:t>
            </a:r>
            <a:r>
              <a:rPr lang="en-US" sz="2800">
                <a:latin typeface="Agency FB"/>
                <a:cs typeface="Aharoni"/>
              </a:rPr>
              <a:t> in diverse ways.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Weak text embedding match:</a:t>
            </a:r>
            <a:r>
              <a:rPr lang="en-US" sz="2800">
                <a:latin typeface="Agency FB"/>
                <a:cs typeface="Aharoni"/>
              </a:rPr>
              <a:t> The prompt </a:t>
            </a:r>
            <a:r>
              <a:rPr lang="en-US" sz="2800">
                <a:solidFill>
                  <a:srgbClr val="92D050"/>
                </a:solidFill>
                <a:latin typeface="Agency FB"/>
                <a:cs typeface="Aharoni"/>
              </a:rPr>
              <a:t>“tree”</a:t>
            </a:r>
            <a:r>
              <a:rPr lang="en-US" sz="2800">
                <a:latin typeface="Agency FB"/>
                <a:cs typeface="Aharoni"/>
              </a:rPr>
              <a:t> is too vague, so the model confuses the backgrounds, textures, and shapes.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Box uncertainty:</a:t>
            </a:r>
            <a:r>
              <a:rPr lang="en-US" sz="2800">
                <a:latin typeface="Agency FB"/>
                <a:cs typeface="Aharoni"/>
              </a:rPr>
              <a:t> The default box decoder often outputs too many low-quality proposals, without filtering boxes appear everywhere.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No thresholding:</a:t>
            </a:r>
            <a:r>
              <a:rPr lang="en-US" sz="2800">
                <a:latin typeface="Agency FB"/>
                <a:cs typeface="Aharoni"/>
              </a:rPr>
              <a:t> All boxes were drawn which led to visual clutter.</a:t>
            </a:r>
          </a:p>
        </p:txBody>
      </p:sp>
    </p:spTree>
    <p:extLst>
      <p:ext uri="{BB962C8B-B14F-4D97-AF65-F5344CB8AC3E}">
        <p14:creationId xmlns:p14="http://schemas.microsoft.com/office/powerpoint/2010/main" val="312893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273F-A0DE-A0ED-3952-6423BF6F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6FAF-2282-AC5E-4CC4-BC32AEA19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Recommendations and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238ED-7055-B787-995F-FEA4794DA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Add Confidence Thresholding:</a:t>
            </a:r>
            <a:r>
              <a:rPr lang="en-US" sz="2800">
                <a:latin typeface="Agency FB"/>
                <a:cs typeface="Aharoni"/>
              </a:rPr>
              <a:t> only show confidence predictions if more than </a:t>
            </a:r>
            <a:r>
              <a:rPr lang="en-US" sz="2800">
                <a:solidFill>
                  <a:srgbClr val="00B0F0"/>
                </a:solidFill>
                <a:latin typeface="Agency FB"/>
                <a:cs typeface="Aharoni"/>
              </a:rPr>
              <a:t>50% </a:t>
            </a:r>
            <a:r>
              <a:rPr lang="en-US" sz="2800">
                <a:latin typeface="Agency FB"/>
                <a:cs typeface="Aharoni"/>
              </a:rPr>
              <a:t>confident.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Use a Refined prompt:</a:t>
            </a:r>
            <a:r>
              <a:rPr lang="en-US" sz="2800">
                <a:latin typeface="Agency FB"/>
                <a:cs typeface="Aharoni"/>
              </a:rPr>
              <a:t> Use more detailed specific prompts</a:t>
            </a:r>
          </a:p>
        </p:txBody>
      </p:sp>
    </p:spTree>
    <p:extLst>
      <p:ext uri="{BB962C8B-B14F-4D97-AF65-F5344CB8AC3E}">
        <p14:creationId xmlns:p14="http://schemas.microsoft.com/office/powerpoint/2010/main" val="38062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FC6A-A23E-4675-5DE7-55351491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9DC0-CB9C-6562-DA25-2333DBBE9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Use a Refined Prompt</a:t>
            </a:r>
          </a:p>
        </p:txBody>
      </p:sp>
      <p:pic>
        <p:nvPicPr>
          <p:cNvPr id="4" name="Picture 3" descr="A tree in a field&#10;&#10;AI-generated content may be incorrect.">
            <a:extLst>
              <a:ext uri="{FF2B5EF4-FFF2-40B4-BE49-F238E27FC236}">
                <a16:creationId xmlns:a16="http://schemas.microsoft.com/office/drawing/2014/main" id="{59AF8EDD-1688-D19C-3C34-14A657DF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1" t="2154" r="1090" b="1814"/>
          <a:stretch>
            <a:fillRect/>
          </a:stretch>
        </p:blipFill>
        <p:spPr>
          <a:xfrm>
            <a:off x="3007912" y="1974484"/>
            <a:ext cx="8845968" cy="4646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CC7679-45E3-FE02-B050-8DD2808F5ADE}"/>
              </a:ext>
            </a:extLst>
          </p:cNvPr>
          <p:cNvSpPr txBox="1"/>
          <p:nvPr/>
        </p:nvSpPr>
        <p:spPr>
          <a:xfrm>
            <a:off x="141554" y="1976330"/>
            <a:ext cx="27432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gency FB"/>
              </a:rPr>
              <a:t>Instead of using the prompt </a:t>
            </a:r>
            <a:r>
              <a:rPr lang="en-US" sz="2800">
                <a:solidFill>
                  <a:srgbClr val="92D050"/>
                </a:solidFill>
                <a:latin typeface="Agency FB"/>
              </a:rPr>
              <a:t>"tree"</a:t>
            </a:r>
            <a:r>
              <a:rPr lang="en-US" sz="2800">
                <a:latin typeface="Agency FB"/>
              </a:rPr>
              <a:t> we used the prompt </a:t>
            </a:r>
            <a:r>
              <a:rPr lang="en-US" sz="2800">
                <a:solidFill>
                  <a:srgbClr val="92D050"/>
                </a:solidFill>
                <a:latin typeface="Agency FB"/>
              </a:rPr>
              <a:t>"green bush"</a:t>
            </a:r>
            <a:r>
              <a:rPr lang="en-US" sz="2800">
                <a:latin typeface="Agency FB"/>
              </a:rPr>
              <a:t> as the trunk is not very visible so the tree resembles more of a bush. </a:t>
            </a:r>
          </a:p>
        </p:txBody>
      </p:sp>
    </p:spTree>
    <p:extLst>
      <p:ext uri="{BB962C8B-B14F-4D97-AF65-F5344CB8AC3E}">
        <p14:creationId xmlns:p14="http://schemas.microsoft.com/office/powerpoint/2010/main" val="273256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D65F0-E2A5-F4E5-9158-6311CDF7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8F1A-F494-11AF-6BE3-4081C25B8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>
                <a:latin typeface="Neue Haas Grotesk Text Pro"/>
              </a:rPr>
              <a:t>Add Confidence Thresholding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59E13-D4A0-C3A7-D036-529D48CBE426}"/>
              </a:ext>
            </a:extLst>
          </p:cNvPr>
          <p:cNvSpPr txBox="1"/>
          <p:nvPr/>
        </p:nvSpPr>
        <p:spPr>
          <a:xfrm>
            <a:off x="141554" y="1976330"/>
            <a:ext cx="27432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gency FB"/>
              </a:rPr>
              <a:t>In the code we changed the confidence threshold from </a:t>
            </a:r>
            <a:r>
              <a:rPr lang="en-US" sz="2800">
                <a:solidFill>
                  <a:srgbClr val="00B0F0"/>
                </a:solidFill>
                <a:latin typeface="Agency FB"/>
              </a:rPr>
              <a:t>30%</a:t>
            </a:r>
            <a:r>
              <a:rPr lang="en-US" sz="2800">
                <a:latin typeface="Agency FB"/>
              </a:rPr>
              <a:t> to </a:t>
            </a:r>
            <a:r>
              <a:rPr lang="en-US" sz="2800">
                <a:solidFill>
                  <a:srgbClr val="00B0F0"/>
                </a:solidFill>
                <a:latin typeface="Agency FB"/>
              </a:rPr>
              <a:t>50%</a:t>
            </a:r>
            <a:r>
              <a:rPr lang="en-US" sz="2800">
                <a:latin typeface="Agency FB"/>
              </a:rPr>
              <a:t> so it would only display the boxes it was super confident in.</a:t>
            </a:r>
          </a:p>
        </p:txBody>
      </p:sp>
      <p:pic>
        <p:nvPicPr>
          <p:cNvPr id="3" name="Picture 2" descr="A tree in a field&#10;&#10;AI-generated content may be incorrect.">
            <a:extLst>
              <a:ext uri="{FF2B5EF4-FFF2-40B4-BE49-F238E27FC236}">
                <a16:creationId xmlns:a16="http://schemas.microsoft.com/office/drawing/2014/main" id="{AD1CCCC4-AAB4-B5B9-F5E1-FF4B03A8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232" y="1733549"/>
            <a:ext cx="9285768" cy="491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57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FA71-58AC-60B0-2130-57E8CB1C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3F12-0174-E7CE-4906-87A86F395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we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93AA2-248C-08E3-5B2D-AC75A652D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We learned that zero-shot models have limitations for specific object detection.</a:t>
            </a:r>
            <a:endParaRPr lang="en-US">
              <a:latin typeface="Agency FB"/>
              <a:cs typeface="Aharoni"/>
            </a:endParaRP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Vague language leads to visual confusion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Outputs can look corrects numerically but be visually incorrect.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Evaluation is necessary to understand real model behavior</a:t>
            </a:r>
          </a:p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/>
                <a:cs typeface="Aharoni"/>
              </a:rPr>
              <a:t>Improvements can significantly increase the accuracy </a:t>
            </a:r>
          </a:p>
          <a:p>
            <a:pPr marL="457200" indent="-457200">
              <a:buFont typeface="Courier New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1289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7695-27A4-3C9A-F0F4-01CD7A61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B3D5-073F-7259-980A-6DD138C33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Conclusion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D7CFF-E9BF-C6F1-B3B4-F3F95D7E1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>
                <a:latin typeface="Agency FB" panose="020B0503020202020204" pitchFamily="34" charset="0"/>
                <a:cs typeface="Aharoni" panose="020F0502020204030204" pitchFamily="2" charset="-79"/>
              </a:rPr>
              <a:t>By using AI models we learned that inaccurate outputs have to do with model limitations as zero-shot owl-vit produced. By adding improvements, we improved the model’s performance and accuracy to have a better output.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cs typeface="Aharoni"/>
              </a:rPr>
              <a:t>Future work: </a:t>
            </a:r>
          </a:p>
          <a:p>
            <a:pPr marL="1028700" lvl="2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Try fine-tuning OWL-ViT on a small custom dataset</a:t>
            </a:r>
            <a:endParaRPr lang="en-US" sz="2400">
              <a:solidFill>
                <a:srgbClr val="F0EDE6"/>
              </a:solidFill>
              <a:latin typeface="Agency FB"/>
              <a:cs typeface="Aharoni" panose="020F0502020204030204" pitchFamily="2" charset="-79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Test additional prompt engineering strategies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  </a:t>
            </a:r>
            <a:r>
              <a:rPr lang="en-US" sz="2400">
                <a:solidFill>
                  <a:srgbClr val="FFFF00"/>
                </a:solidFill>
                <a:latin typeface="Agency FB"/>
                <a:ea typeface="+mn-lt"/>
                <a:cs typeface="+mn-lt"/>
              </a:rPr>
              <a:t>Evaluate more advanced models like:</a:t>
            </a:r>
            <a:endParaRPr lang="en-US">
              <a:solidFill>
                <a:srgbClr val="FFFF00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Grounding-DINO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Florence-2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SAM + Detic hybrid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Compare performance across images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457200" indent="-457200">
              <a:buFont typeface="Courier New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368348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Dune</vt:lpstr>
      <vt:lpstr>Simple Open-Vocabulary Object Detection with Vision Transformers</vt:lpstr>
      <vt:lpstr>Project Overview:</vt:lpstr>
      <vt:lpstr>What is  Open-vocabulary object detection</vt:lpstr>
      <vt:lpstr>Architecture Overview (Vision Transformer + Text Encoder)</vt:lpstr>
      <vt:lpstr>What is OWL_ViT</vt:lpstr>
      <vt:lpstr>Implementation Setup</vt:lpstr>
      <vt:lpstr>    Input Example</vt:lpstr>
      <vt:lpstr>    Output Example</vt:lpstr>
      <vt:lpstr>Observed Errors</vt:lpstr>
      <vt:lpstr>Why it failed?</vt:lpstr>
      <vt:lpstr>Recommendations and improvements</vt:lpstr>
      <vt:lpstr>Use a Refined Prompt</vt:lpstr>
      <vt:lpstr>Add Confidence Thresholding</vt:lpstr>
      <vt:lpstr>What we learned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Guia Mae Bongulto</dc:creator>
  <cp:revision>5</cp:revision>
  <dcterms:created xsi:type="dcterms:W3CDTF">2025-11-19T23:23:26Z</dcterms:created>
  <dcterms:modified xsi:type="dcterms:W3CDTF">2025-12-05T02:53:46Z</dcterms:modified>
</cp:coreProperties>
</file>